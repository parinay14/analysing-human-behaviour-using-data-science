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MuseoModerno Medium" panose="020B0604020202020204" charset="0"/>
      <p:regular r:id="rId13"/>
    </p:embeddedFont>
    <p:embeddedFont>
      <p:font typeface="Source Sans Pro" panose="020B0503030403020204" pitchFamily="3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65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9107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32862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The Future of Personality Assessment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086344"/>
            <a:ext cx="755642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 study of human behavioral science has undergone a significant transformation with the integration of advanced technologies and data-driven methodologies. This project aims to explore the relationship between personality traits and professional readiness, focusing on how personality insights can empower organizations and individuals alike.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39960"/>
            <a:ext cx="1266848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The Rise of Behavioral Science and Technology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Data Revolution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396859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Modern research tools allow us to collect, analyze, and interpret data with remarkable precision and at an unprecedented scale, shedding new light on human behavior and personality.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815715"/>
            <a:ext cx="394513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Technological Advancements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4396859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Innovative technologies like machine learning, natural language processing, and virtual assessments are transforming the way we measure and understand personality.</a:t>
            </a:r>
            <a:endParaRPr lang="en-US" sz="17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D44FB62-4F84-AEF5-DFD4-69CE72EB75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26865" y="7457365"/>
            <a:ext cx="1981477" cy="67636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2955" y="790099"/>
            <a:ext cx="7578090" cy="1398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The Power of Data-Driven Insights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782955" y="2775466"/>
            <a:ext cx="503277" cy="503277"/>
          </a:xfrm>
          <a:prstGeom prst="roundRect">
            <a:avLst>
              <a:gd name="adj" fmla="val 6668"/>
            </a:avLst>
          </a:prstGeom>
          <a:solidFill>
            <a:srgbClr val="F3EEE3"/>
          </a:solidFill>
          <a:ln/>
        </p:spPr>
      </p:sp>
      <p:sp>
        <p:nvSpPr>
          <p:cNvPr id="5" name="Text 2"/>
          <p:cNvSpPr/>
          <p:nvPr/>
        </p:nvSpPr>
        <p:spPr>
          <a:xfrm>
            <a:off x="955834" y="2859286"/>
            <a:ext cx="157401" cy="335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1509951" y="2775466"/>
            <a:ext cx="2937153" cy="349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Predictive Capabilities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09951" y="3259217"/>
            <a:ext cx="2950250" cy="1789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Advanced analytics can identify patterns and trends, enabling organizations to predict employee performance and potential with greater accuracy.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683919" y="2775466"/>
            <a:ext cx="503277" cy="503277"/>
          </a:xfrm>
          <a:prstGeom prst="roundRect">
            <a:avLst>
              <a:gd name="adj" fmla="val 6668"/>
            </a:avLst>
          </a:prstGeom>
          <a:solidFill>
            <a:srgbClr val="F3EEE3"/>
          </a:solidFill>
          <a:ln/>
        </p:spPr>
      </p:sp>
      <p:sp>
        <p:nvSpPr>
          <p:cNvPr id="9" name="Text 6"/>
          <p:cNvSpPr/>
          <p:nvPr/>
        </p:nvSpPr>
        <p:spPr>
          <a:xfrm>
            <a:off x="4842272" y="2859286"/>
            <a:ext cx="186571" cy="335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5410914" y="2775466"/>
            <a:ext cx="2945725" cy="349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Personalized Insights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10914" y="3259217"/>
            <a:ext cx="2950250" cy="2147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Data-driven personality assessments provide tailored insights, empowering individuals to unlock their full potential and align their skills with the right opportunities.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82955" y="5881926"/>
            <a:ext cx="503277" cy="503277"/>
          </a:xfrm>
          <a:prstGeom prst="roundRect">
            <a:avLst>
              <a:gd name="adj" fmla="val 6668"/>
            </a:avLst>
          </a:prstGeom>
          <a:solidFill>
            <a:srgbClr val="F3EEE3"/>
          </a:solidFill>
          <a:ln/>
        </p:spPr>
      </p:sp>
      <p:sp>
        <p:nvSpPr>
          <p:cNvPr id="13" name="Text 10"/>
          <p:cNvSpPr/>
          <p:nvPr/>
        </p:nvSpPr>
        <p:spPr>
          <a:xfrm>
            <a:off x="940237" y="5965746"/>
            <a:ext cx="188595" cy="335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1509951" y="5881926"/>
            <a:ext cx="2975967" cy="349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Organizational Agility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509951" y="6365677"/>
            <a:ext cx="6851094" cy="1073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Leveraging personality data can help organizations adapt to changing market conditions, ensure workforce readiness, and drive strategic decision-making.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031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6760" y="586740"/>
            <a:ext cx="7650480" cy="1333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250"/>
              </a:lnSpc>
              <a:buNone/>
            </a:pPr>
            <a:r>
              <a:rPr lang="en-US" sz="42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Personality Traits and Professional Readiness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746760" y="2240518"/>
            <a:ext cx="3718560" cy="2594848"/>
          </a:xfrm>
          <a:prstGeom prst="roundRect">
            <a:avLst>
              <a:gd name="adj" fmla="val 1234"/>
            </a:avLst>
          </a:prstGeom>
          <a:solidFill>
            <a:srgbClr val="F3EEE3"/>
          </a:solidFill>
          <a:ln/>
        </p:spPr>
      </p:sp>
      <p:sp>
        <p:nvSpPr>
          <p:cNvPr id="5" name="Text 2"/>
          <p:cNvSpPr/>
          <p:nvPr/>
        </p:nvSpPr>
        <p:spPr>
          <a:xfrm>
            <a:off x="960120" y="2453878"/>
            <a:ext cx="2667357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1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Cognitive Abilities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960120" y="2915245"/>
            <a:ext cx="3291840" cy="1706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16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Certain personality traits, such as openness and conscientiousness, are closely linked to an individual's cognitive abilities and problem-solving skills.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4678680" y="2240518"/>
            <a:ext cx="3718560" cy="2594848"/>
          </a:xfrm>
          <a:prstGeom prst="roundRect">
            <a:avLst>
              <a:gd name="adj" fmla="val 1234"/>
            </a:avLst>
          </a:prstGeom>
          <a:solidFill>
            <a:srgbClr val="F3EEE3"/>
          </a:solidFill>
          <a:ln/>
        </p:spPr>
      </p:sp>
      <p:sp>
        <p:nvSpPr>
          <p:cNvPr id="8" name="Text 5"/>
          <p:cNvSpPr/>
          <p:nvPr/>
        </p:nvSpPr>
        <p:spPr>
          <a:xfrm>
            <a:off x="4892040" y="2453878"/>
            <a:ext cx="2891909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1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Emotional Intelligence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4892040" y="2915245"/>
            <a:ext cx="3291840" cy="1706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16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Personality factors like empathy, self-awareness, and adaptability can significantly impact an employee's interpersonal skills and emotional intelligence.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746760" y="5048726"/>
            <a:ext cx="3718560" cy="2594848"/>
          </a:xfrm>
          <a:prstGeom prst="roundRect">
            <a:avLst>
              <a:gd name="adj" fmla="val 1234"/>
            </a:avLst>
          </a:prstGeom>
          <a:solidFill>
            <a:srgbClr val="F3EEE3"/>
          </a:solidFill>
          <a:ln/>
        </p:spPr>
      </p:sp>
      <p:sp>
        <p:nvSpPr>
          <p:cNvPr id="11" name="Text 8"/>
          <p:cNvSpPr/>
          <p:nvPr/>
        </p:nvSpPr>
        <p:spPr>
          <a:xfrm>
            <a:off x="960120" y="5262086"/>
            <a:ext cx="2667357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1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Motivational Drivers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960120" y="5723453"/>
            <a:ext cx="3291840" cy="1365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16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Understanding an individual's personality-driven motivations can help organizations align them with the right roles and responsibilities.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4678680" y="5048726"/>
            <a:ext cx="3718560" cy="2594848"/>
          </a:xfrm>
          <a:prstGeom prst="roundRect">
            <a:avLst>
              <a:gd name="adj" fmla="val 1234"/>
            </a:avLst>
          </a:prstGeom>
          <a:solidFill>
            <a:srgbClr val="F3EEE3"/>
          </a:solidFill>
          <a:ln/>
        </p:spPr>
      </p:sp>
      <p:sp>
        <p:nvSpPr>
          <p:cNvPr id="14" name="Text 11"/>
          <p:cNvSpPr/>
          <p:nvPr/>
        </p:nvSpPr>
        <p:spPr>
          <a:xfrm>
            <a:off x="4892040" y="5262086"/>
            <a:ext cx="2667357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1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Cultural Fit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4892040" y="5723453"/>
            <a:ext cx="3291840" cy="1706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16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Personality assessments can identify candidates whose values and working styles are a strong match for a company's culture and expectations.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0565" y="720685"/>
            <a:ext cx="7722870" cy="1268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950"/>
              </a:lnSpc>
              <a:buNone/>
            </a:pPr>
            <a:r>
              <a:rPr lang="en-US" sz="39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Exploring the Personality-Performance Link</a:t>
            </a:r>
            <a:endParaRPr lang="en-US" sz="3950" dirty="0"/>
          </a:p>
        </p:txBody>
      </p:sp>
      <p:sp>
        <p:nvSpPr>
          <p:cNvPr id="4" name="Shape 1"/>
          <p:cNvSpPr/>
          <p:nvPr/>
        </p:nvSpPr>
        <p:spPr>
          <a:xfrm>
            <a:off x="1003578" y="2293858"/>
            <a:ext cx="22860" cy="5214938"/>
          </a:xfrm>
          <a:prstGeom prst="roundRect">
            <a:avLst>
              <a:gd name="adj" fmla="val 133219"/>
            </a:avLst>
          </a:prstGeom>
          <a:solidFill>
            <a:srgbClr val="D9D4C9"/>
          </a:solidFill>
          <a:ln/>
        </p:spPr>
      </p:sp>
      <p:sp>
        <p:nvSpPr>
          <p:cNvPr id="5" name="Shape 2"/>
          <p:cNvSpPr/>
          <p:nvPr/>
        </p:nvSpPr>
        <p:spPr>
          <a:xfrm>
            <a:off x="1220510" y="2739152"/>
            <a:ext cx="710565" cy="22860"/>
          </a:xfrm>
          <a:prstGeom prst="roundRect">
            <a:avLst>
              <a:gd name="adj" fmla="val 133219"/>
            </a:avLst>
          </a:prstGeom>
          <a:solidFill>
            <a:srgbClr val="D9D4C9"/>
          </a:solidFill>
          <a:ln/>
        </p:spPr>
      </p:sp>
      <p:sp>
        <p:nvSpPr>
          <p:cNvPr id="6" name="Shape 3"/>
          <p:cNvSpPr/>
          <p:nvPr/>
        </p:nvSpPr>
        <p:spPr>
          <a:xfrm>
            <a:off x="786646" y="2522220"/>
            <a:ext cx="456724" cy="456724"/>
          </a:xfrm>
          <a:prstGeom prst="roundRect">
            <a:avLst>
              <a:gd name="adj" fmla="val 6668"/>
            </a:avLst>
          </a:prstGeom>
          <a:solidFill>
            <a:srgbClr val="F3EEE3"/>
          </a:solidFill>
          <a:ln/>
        </p:spPr>
      </p:sp>
      <p:sp>
        <p:nvSpPr>
          <p:cNvPr id="7" name="Text 4"/>
          <p:cNvSpPr/>
          <p:nvPr/>
        </p:nvSpPr>
        <p:spPr>
          <a:xfrm>
            <a:off x="943570" y="2598301"/>
            <a:ext cx="142875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1</a:t>
            </a:r>
            <a:endParaRPr lang="en-US" sz="2350" dirty="0"/>
          </a:p>
        </p:txBody>
      </p:sp>
      <p:sp>
        <p:nvSpPr>
          <p:cNvPr id="8" name="Text 5"/>
          <p:cNvSpPr/>
          <p:nvPr/>
        </p:nvSpPr>
        <p:spPr>
          <a:xfrm>
            <a:off x="2131576" y="2496860"/>
            <a:ext cx="2537817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Personality Profiling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2131576" y="2935962"/>
            <a:ext cx="6301859" cy="649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Comprehensive personality assessments provide a detailed understanding of an individual's unique traits, preferences, and behavioral tendencies.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1220510" y="4436864"/>
            <a:ext cx="710565" cy="22860"/>
          </a:xfrm>
          <a:prstGeom prst="roundRect">
            <a:avLst>
              <a:gd name="adj" fmla="val 133219"/>
            </a:avLst>
          </a:prstGeom>
          <a:solidFill>
            <a:srgbClr val="D9D4C9"/>
          </a:solidFill>
          <a:ln/>
        </p:spPr>
      </p:sp>
      <p:sp>
        <p:nvSpPr>
          <p:cNvPr id="11" name="Shape 8"/>
          <p:cNvSpPr/>
          <p:nvPr/>
        </p:nvSpPr>
        <p:spPr>
          <a:xfrm>
            <a:off x="786646" y="4219932"/>
            <a:ext cx="456724" cy="456724"/>
          </a:xfrm>
          <a:prstGeom prst="roundRect">
            <a:avLst>
              <a:gd name="adj" fmla="val 6668"/>
            </a:avLst>
          </a:prstGeom>
          <a:solidFill>
            <a:srgbClr val="F3EEE3"/>
          </a:solidFill>
          <a:ln/>
        </p:spPr>
      </p:sp>
      <p:sp>
        <p:nvSpPr>
          <p:cNvPr id="12" name="Text 9"/>
          <p:cNvSpPr/>
          <p:nvPr/>
        </p:nvSpPr>
        <p:spPr>
          <a:xfrm>
            <a:off x="930354" y="4296013"/>
            <a:ext cx="169307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2</a:t>
            </a:r>
            <a:endParaRPr lang="en-US" sz="2350" dirty="0"/>
          </a:p>
        </p:txBody>
      </p:sp>
      <p:sp>
        <p:nvSpPr>
          <p:cNvPr id="13" name="Text 10"/>
          <p:cNvSpPr/>
          <p:nvPr/>
        </p:nvSpPr>
        <p:spPr>
          <a:xfrm>
            <a:off x="2131576" y="4194572"/>
            <a:ext cx="3323273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Job Requirements Analysis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2131576" y="4633674"/>
            <a:ext cx="6301859" cy="649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Analyzing the specific personality requirements for different roles and job functions enables organizations to identify the best-fit candidates.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1220510" y="6134576"/>
            <a:ext cx="710565" cy="22860"/>
          </a:xfrm>
          <a:prstGeom prst="roundRect">
            <a:avLst>
              <a:gd name="adj" fmla="val 133219"/>
            </a:avLst>
          </a:prstGeom>
          <a:solidFill>
            <a:srgbClr val="D9D4C9"/>
          </a:solidFill>
          <a:ln/>
        </p:spPr>
      </p:sp>
      <p:sp>
        <p:nvSpPr>
          <p:cNvPr id="16" name="Shape 13"/>
          <p:cNvSpPr/>
          <p:nvPr/>
        </p:nvSpPr>
        <p:spPr>
          <a:xfrm>
            <a:off x="786646" y="5917644"/>
            <a:ext cx="456724" cy="456724"/>
          </a:xfrm>
          <a:prstGeom prst="roundRect">
            <a:avLst>
              <a:gd name="adj" fmla="val 6668"/>
            </a:avLst>
          </a:prstGeom>
          <a:solidFill>
            <a:srgbClr val="F3EEE3"/>
          </a:solidFill>
          <a:ln/>
        </p:spPr>
      </p:sp>
      <p:sp>
        <p:nvSpPr>
          <p:cNvPr id="17" name="Text 14"/>
          <p:cNvSpPr/>
          <p:nvPr/>
        </p:nvSpPr>
        <p:spPr>
          <a:xfrm>
            <a:off x="929402" y="5993725"/>
            <a:ext cx="171212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3</a:t>
            </a:r>
            <a:endParaRPr lang="en-US" sz="2350" dirty="0"/>
          </a:p>
        </p:txBody>
      </p:sp>
      <p:sp>
        <p:nvSpPr>
          <p:cNvPr id="18" name="Text 15"/>
          <p:cNvSpPr/>
          <p:nvPr/>
        </p:nvSpPr>
        <p:spPr>
          <a:xfrm>
            <a:off x="2131576" y="5892284"/>
            <a:ext cx="2936081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Performance Evaluation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2131576" y="6331387"/>
            <a:ext cx="6301859" cy="97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By tracking the performance and career progression of employees, organizations can validate the predictive power of personality-based hiring and development strategies.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50781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2112" y="3220879"/>
            <a:ext cx="13226177" cy="1253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900"/>
              </a:lnSpc>
              <a:buNone/>
            </a:pPr>
            <a:r>
              <a:rPr lang="en-US" sz="39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Assessing Personality: From Self-Report to Multifaceted Evaluation</a:t>
            </a:r>
            <a:endParaRPr lang="en-US" sz="39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112" y="4775716"/>
            <a:ext cx="501491" cy="50149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02112" y="5477828"/>
            <a:ext cx="2507813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Self-Report</a:t>
            </a:r>
            <a:endParaRPr lang="en-US" sz="1950" dirty="0"/>
          </a:p>
        </p:txBody>
      </p:sp>
      <p:sp>
        <p:nvSpPr>
          <p:cNvPr id="6" name="Text 2"/>
          <p:cNvSpPr/>
          <p:nvPr/>
        </p:nvSpPr>
        <p:spPr>
          <a:xfrm>
            <a:off x="702112" y="5911572"/>
            <a:ext cx="3080861" cy="1283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Traditional self-reported personality assessments provide valuable insights based on an individual's own perceptions and experiences.</a:t>
            </a:r>
            <a:endParaRPr lang="en-US" sz="15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3844" y="4775716"/>
            <a:ext cx="501491" cy="50149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083844" y="5477828"/>
            <a:ext cx="2507813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Virtual Assessments</a:t>
            </a:r>
            <a:endParaRPr lang="en-US" sz="1950" dirty="0"/>
          </a:p>
        </p:txBody>
      </p:sp>
      <p:sp>
        <p:nvSpPr>
          <p:cNvPr id="9" name="Text 4"/>
          <p:cNvSpPr/>
          <p:nvPr/>
        </p:nvSpPr>
        <p:spPr>
          <a:xfrm>
            <a:off x="4083844" y="5911572"/>
            <a:ext cx="3080861" cy="1604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Innovative virtual assessments leverage AI, machine learning, and natural language processing to capture more nuanced and objective personality data.</a:t>
            </a:r>
            <a:endParaRPr lang="en-US" sz="15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5576" y="4775716"/>
            <a:ext cx="501491" cy="50149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465576" y="5477828"/>
            <a:ext cx="2507813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Peer Feedback</a:t>
            </a:r>
            <a:endParaRPr lang="en-US" sz="1950" dirty="0"/>
          </a:p>
        </p:txBody>
      </p:sp>
      <p:sp>
        <p:nvSpPr>
          <p:cNvPr id="12" name="Text 6"/>
          <p:cNvSpPr/>
          <p:nvPr/>
        </p:nvSpPr>
        <p:spPr>
          <a:xfrm>
            <a:off x="7465576" y="5911572"/>
            <a:ext cx="3080861" cy="1604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Incorporating 360-degree feedback from colleagues and managers can provide a more well-rounded understanding of an individual's personality and interpersonal skills.</a:t>
            </a:r>
            <a:endParaRPr lang="en-US" sz="15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47308" y="4775716"/>
            <a:ext cx="501491" cy="501491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847308" y="5477828"/>
            <a:ext cx="2507813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Neuroscience</a:t>
            </a:r>
            <a:endParaRPr lang="en-US" sz="1950" dirty="0"/>
          </a:p>
        </p:txBody>
      </p:sp>
      <p:sp>
        <p:nvSpPr>
          <p:cNvPr id="15" name="Text 8"/>
          <p:cNvSpPr/>
          <p:nvPr/>
        </p:nvSpPr>
        <p:spPr>
          <a:xfrm>
            <a:off x="10847308" y="5911572"/>
            <a:ext cx="3080980" cy="1604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Emerging neuroscience-based techniques, such as brain imaging and physiological monitoring, offer insights into the biological underpinnings of personality.</a:t>
            </a:r>
            <a:endParaRPr lang="en-US" sz="15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3636894-6349-AC39-5AAF-221C176A8E3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648923" y="7477996"/>
            <a:ext cx="1981477" cy="67636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2803" y="591264"/>
            <a:ext cx="10652641" cy="466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650"/>
              </a:lnSpc>
              <a:buNone/>
            </a:pPr>
            <a:r>
              <a:rPr lang="en-US" sz="29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Predictive Modeling: Identifying High-Potential Candidates</a:t>
            </a:r>
            <a:endParaRPr lang="en-US" sz="2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8515" y="1356836"/>
            <a:ext cx="1120735" cy="10158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75008" y="1845350"/>
            <a:ext cx="87630" cy="298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4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1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4628555" y="1748076"/>
            <a:ext cx="1823323" cy="233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Personality Profiling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4516517" y="2387441"/>
            <a:ext cx="9553813" cy="7620"/>
          </a:xfrm>
          <a:prstGeom prst="roundRect">
            <a:avLst>
              <a:gd name="adj" fmla="val 294079"/>
            </a:avLst>
          </a:prstGeom>
          <a:solidFill>
            <a:srgbClr val="D9D4C9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207" y="2409944"/>
            <a:ext cx="2241471" cy="101584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866912" y="2768560"/>
            <a:ext cx="103823" cy="298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4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2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5188982" y="2801183"/>
            <a:ext cx="1621988" cy="233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Job Requirements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5076944" y="3440549"/>
            <a:ext cx="8993386" cy="7620"/>
          </a:xfrm>
          <a:prstGeom prst="roundRect">
            <a:avLst>
              <a:gd name="adj" fmla="val 294079"/>
            </a:avLst>
          </a:prstGeom>
          <a:solidFill>
            <a:srgbClr val="D9D4C9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7780" y="3463052"/>
            <a:ext cx="3362206" cy="101584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866317" y="3821668"/>
            <a:ext cx="105013" cy="298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4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3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5749290" y="3854291"/>
            <a:ext cx="1743194" cy="233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Predictive Analytics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5637252" y="4493657"/>
            <a:ext cx="8433078" cy="7620"/>
          </a:xfrm>
          <a:prstGeom prst="roundRect">
            <a:avLst>
              <a:gd name="adj" fmla="val 294079"/>
            </a:avLst>
          </a:prstGeom>
          <a:solidFill>
            <a:srgbClr val="D9D4C9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7472" y="4516160"/>
            <a:ext cx="4482941" cy="101584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858816" y="4874776"/>
            <a:ext cx="120253" cy="298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4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4</a:t>
            </a:r>
            <a:endParaRPr lang="en-US" sz="1450" dirty="0"/>
          </a:p>
        </p:txBody>
      </p:sp>
      <p:sp>
        <p:nvSpPr>
          <p:cNvPr id="17" name="Text 11"/>
          <p:cNvSpPr/>
          <p:nvPr/>
        </p:nvSpPr>
        <p:spPr>
          <a:xfrm>
            <a:off x="6309717" y="4907399"/>
            <a:ext cx="1837492" cy="233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Talent Identification</a:t>
            </a:r>
            <a:endParaRPr lang="en-US" sz="1450" dirty="0"/>
          </a:p>
        </p:txBody>
      </p:sp>
      <p:sp>
        <p:nvSpPr>
          <p:cNvPr id="18" name="Shape 12"/>
          <p:cNvSpPr/>
          <p:nvPr/>
        </p:nvSpPr>
        <p:spPr>
          <a:xfrm>
            <a:off x="6197679" y="5546765"/>
            <a:ext cx="7872651" cy="7620"/>
          </a:xfrm>
          <a:prstGeom prst="roundRect">
            <a:avLst>
              <a:gd name="adj" fmla="val 294079"/>
            </a:avLst>
          </a:prstGeom>
          <a:solidFill>
            <a:srgbClr val="D9D4C9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7044" y="5569268"/>
            <a:ext cx="5603677" cy="101584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3867031" y="5927884"/>
            <a:ext cx="103465" cy="298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4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5</a:t>
            </a:r>
            <a:endParaRPr lang="en-US" sz="1450" dirty="0"/>
          </a:p>
        </p:txBody>
      </p:sp>
      <p:sp>
        <p:nvSpPr>
          <p:cNvPr id="21" name="Text 14"/>
          <p:cNvSpPr/>
          <p:nvPr/>
        </p:nvSpPr>
        <p:spPr>
          <a:xfrm>
            <a:off x="6870025" y="5960507"/>
            <a:ext cx="1780103" cy="233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Workforce Planning</a:t>
            </a:r>
            <a:endParaRPr lang="en-US" sz="1450" dirty="0"/>
          </a:p>
        </p:txBody>
      </p:sp>
      <p:sp>
        <p:nvSpPr>
          <p:cNvPr id="22" name="Shape 15"/>
          <p:cNvSpPr/>
          <p:nvPr/>
        </p:nvSpPr>
        <p:spPr>
          <a:xfrm>
            <a:off x="6757988" y="6599873"/>
            <a:ext cx="7312343" cy="7620"/>
          </a:xfrm>
          <a:prstGeom prst="roundRect">
            <a:avLst>
              <a:gd name="adj" fmla="val 294079"/>
            </a:avLst>
          </a:prstGeom>
          <a:solidFill>
            <a:srgbClr val="D9D4C9"/>
          </a:solidFill>
          <a:ln/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6736" y="6622375"/>
            <a:ext cx="6724412" cy="1015841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3860363" y="6980992"/>
            <a:ext cx="116919" cy="298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4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6</a:t>
            </a:r>
            <a:endParaRPr lang="en-US" sz="1450" dirty="0"/>
          </a:p>
        </p:txBody>
      </p:sp>
      <p:sp>
        <p:nvSpPr>
          <p:cNvPr id="25" name="Text 17"/>
          <p:cNvSpPr/>
          <p:nvPr/>
        </p:nvSpPr>
        <p:spPr>
          <a:xfrm>
            <a:off x="7430452" y="6771680"/>
            <a:ext cx="6527840" cy="717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By integrating personality data with job requirements and predictive analytics, organizations can identify high-potential candidates who are most likely to excel in specific roles, enabling them to make informed hiring and promotion decisions.</a:t>
            </a:r>
            <a:endParaRPr lang="en-US" sz="115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53C9BF9E-4E2F-74A4-B61E-8AA9534E030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648923" y="7559018"/>
            <a:ext cx="1981477" cy="67636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0094" y="589478"/>
            <a:ext cx="13130213" cy="1339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250"/>
              </a:lnSpc>
              <a:buNone/>
            </a:pPr>
            <a:r>
              <a:rPr lang="en-US" sz="42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Personalized Development Plans for Employee Growth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750094" y="2357557"/>
            <a:ext cx="1313021" cy="763429"/>
          </a:xfrm>
          <a:prstGeom prst="roundRect">
            <a:avLst>
              <a:gd name="adj" fmla="val 4211"/>
            </a:avLst>
          </a:prstGeom>
          <a:solidFill>
            <a:srgbClr val="F3EEE3"/>
          </a:solidFill>
          <a:ln/>
        </p:spPr>
      </p:sp>
      <p:sp>
        <p:nvSpPr>
          <p:cNvPr id="4" name="Text 2"/>
          <p:cNvSpPr/>
          <p:nvPr/>
        </p:nvSpPr>
        <p:spPr>
          <a:xfrm>
            <a:off x="964406" y="2524958"/>
            <a:ext cx="125611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50"/>
              </a:lnSpc>
              <a:buNone/>
            </a:pPr>
            <a:r>
              <a:rPr lang="en-US" sz="21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1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277428" y="2571869"/>
            <a:ext cx="2641640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Personality Insights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170271" y="3105745"/>
            <a:ext cx="11602879" cy="15240"/>
          </a:xfrm>
          <a:prstGeom prst="roundRect">
            <a:avLst>
              <a:gd name="adj" fmla="val 210950"/>
            </a:avLst>
          </a:prstGeom>
          <a:solidFill>
            <a:srgbClr val="D9D4C9"/>
          </a:solidFill>
          <a:ln/>
        </p:spPr>
      </p:sp>
      <p:sp>
        <p:nvSpPr>
          <p:cNvPr id="7" name="Shape 5"/>
          <p:cNvSpPr/>
          <p:nvPr/>
        </p:nvSpPr>
        <p:spPr>
          <a:xfrm>
            <a:off x="750094" y="3228142"/>
            <a:ext cx="2626043" cy="763429"/>
          </a:xfrm>
          <a:prstGeom prst="roundRect">
            <a:avLst>
              <a:gd name="adj" fmla="val 4211"/>
            </a:avLst>
          </a:prstGeom>
          <a:solidFill>
            <a:srgbClr val="F3EEE3"/>
          </a:solidFill>
          <a:ln/>
        </p:spPr>
      </p:sp>
      <p:sp>
        <p:nvSpPr>
          <p:cNvPr id="8" name="Text 6"/>
          <p:cNvSpPr/>
          <p:nvPr/>
        </p:nvSpPr>
        <p:spPr>
          <a:xfrm>
            <a:off x="964406" y="3395543"/>
            <a:ext cx="148947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50"/>
              </a:lnSpc>
              <a:buNone/>
            </a:pPr>
            <a:r>
              <a:rPr lang="en-US" sz="21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2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3590449" y="3442454"/>
            <a:ext cx="2342793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Skill Gap Analysis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3483293" y="3976330"/>
            <a:ext cx="10289858" cy="15240"/>
          </a:xfrm>
          <a:prstGeom prst="roundRect">
            <a:avLst>
              <a:gd name="adj" fmla="val 210950"/>
            </a:avLst>
          </a:prstGeom>
          <a:solidFill>
            <a:srgbClr val="D9D4C9"/>
          </a:solidFill>
          <a:ln/>
        </p:spPr>
      </p:sp>
      <p:sp>
        <p:nvSpPr>
          <p:cNvPr id="11" name="Shape 9"/>
          <p:cNvSpPr/>
          <p:nvPr/>
        </p:nvSpPr>
        <p:spPr>
          <a:xfrm>
            <a:off x="750094" y="4098727"/>
            <a:ext cx="3939064" cy="763429"/>
          </a:xfrm>
          <a:prstGeom prst="roundRect">
            <a:avLst>
              <a:gd name="adj" fmla="val 4211"/>
            </a:avLst>
          </a:prstGeom>
          <a:solidFill>
            <a:srgbClr val="F3EEE3"/>
          </a:solidFill>
          <a:ln/>
        </p:spPr>
      </p:sp>
      <p:sp>
        <p:nvSpPr>
          <p:cNvPr id="12" name="Text 10"/>
          <p:cNvSpPr/>
          <p:nvPr/>
        </p:nvSpPr>
        <p:spPr>
          <a:xfrm>
            <a:off x="964406" y="4266128"/>
            <a:ext cx="15049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50"/>
              </a:lnSpc>
              <a:buNone/>
            </a:pPr>
            <a:r>
              <a:rPr lang="en-US" sz="21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3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903470" y="4313039"/>
            <a:ext cx="2099667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Tailored Training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4796314" y="4846915"/>
            <a:ext cx="8976836" cy="15240"/>
          </a:xfrm>
          <a:prstGeom prst="roundRect">
            <a:avLst>
              <a:gd name="adj" fmla="val 210950"/>
            </a:avLst>
          </a:prstGeom>
          <a:solidFill>
            <a:srgbClr val="D9D4C9"/>
          </a:solidFill>
          <a:ln/>
        </p:spPr>
      </p:sp>
      <p:sp>
        <p:nvSpPr>
          <p:cNvPr id="15" name="Shape 13"/>
          <p:cNvSpPr/>
          <p:nvPr/>
        </p:nvSpPr>
        <p:spPr>
          <a:xfrm>
            <a:off x="750094" y="4969312"/>
            <a:ext cx="5252085" cy="763429"/>
          </a:xfrm>
          <a:prstGeom prst="roundRect">
            <a:avLst>
              <a:gd name="adj" fmla="val 4211"/>
            </a:avLst>
          </a:prstGeom>
          <a:solidFill>
            <a:srgbClr val="F3EEE3"/>
          </a:solidFill>
          <a:ln/>
        </p:spPr>
      </p:sp>
      <p:sp>
        <p:nvSpPr>
          <p:cNvPr id="16" name="Text 14"/>
          <p:cNvSpPr/>
          <p:nvPr/>
        </p:nvSpPr>
        <p:spPr>
          <a:xfrm>
            <a:off x="964406" y="5136713"/>
            <a:ext cx="172522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50"/>
              </a:lnSpc>
              <a:buNone/>
            </a:pPr>
            <a:r>
              <a:rPr lang="en-US" sz="21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4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216491" y="5183624"/>
            <a:ext cx="2402800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Career Progression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6109335" y="5717500"/>
            <a:ext cx="7663815" cy="15240"/>
          </a:xfrm>
          <a:prstGeom prst="roundRect">
            <a:avLst>
              <a:gd name="adj" fmla="val 210950"/>
            </a:avLst>
          </a:prstGeom>
          <a:solidFill>
            <a:srgbClr val="D9D4C9"/>
          </a:solidFill>
          <a:ln/>
        </p:spPr>
      </p:sp>
      <p:sp>
        <p:nvSpPr>
          <p:cNvPr id="19" name="Shape 17"/>
          <p:cNvSpPr/>
          <p:nvPr/>
        </p:nvSpPr>
        <p:spPr>
          <a:xfrm>
            <a:off x="750094" y="5839897"/>
            <a:ext cx="6565106" cy="1800225"/>
          </a:xfrm>
          <a:prstGeom prst="roundRect">
            <a:avLst>
              <a:gd name="adj" fmla="val 1786"/>
            </a:avLst>
          </a:prstGeom>
          <a:solidFill>
            <a:srgbClr val="F3EEE3"/>
          </a:solidFill>
          <a:ln/>
        </p:spPr>
      </p:sp>
      <p:sp>
        <p:nvSpPr>
          <p:cNvPr id="20" name="Text 18"/>
          <p:cNvSpPr/>
          <p:nvPr/>
        </p:nvSpPr>
        <p:spPr>
          <a:xfrm>
            <a:off x="964406" y="6525697"/>
            <a:ext cx="148352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50"/>
              </a:lnSpc>
              <a:buNone/>
            </a:pPr>
            <a:r>
              <a:rPr lang="en-US" sz="21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5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7529513" y="6054209"/>
            <a:ext cx="613648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Combining personality data with a deep understanding of individual strengths and development needs enables organizations to create personalized growth plans that empower employees to reach their full potential.</a:t>
            </a:r>
            <a:endParaRPr lang="en-US" sz="165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A6E6FC5-7936-14C2-5338-25A0A19C93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8923" y="7553231"/>
            <a:ext cx="1981477" cy="67636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0428" y="449461"/>
            <a:ext cx="8003143" cy="1018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000"/>
              </a:lnSpc>
              <a:buNone/>
            </a:pPr>
            <a:r>
              <a:rPr lang="en-US" sz="32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Case Studies: Real-World Applications and Outcomes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70428" y="1793796"/>
            <a:ext cx="8003143" cy="537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4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25%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3553301" y="2535198"/>
            <a:ext cx="2037398" cy="254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Increased Retention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70428" y="2887504"/>
            <a:ext cx="8003143" cy="521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2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 leading tech company saw a 25% improvement in employee retention by implementing personality-based hiring and development strategies.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70428" y="3979307"/>
            <a:ext cx="8003143" cy="537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4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40%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3465195" y="4720709"/>
            <a:ext cx="2213610" cy="254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Improved Productivity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70428" y="5073015"/>
            <a:ext cx="8003143" cy="521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2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 global consulting firm achieved a 40% boost in team productivity by aligning employee personality traits with project assignments.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70428" y="6164818"/>
            <a:ext cx="8003143" cy="537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4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35</a:t>
            </a:r>
            <a:endParaRPr lang="en-US" sz="4200" dirty="0"/>
          </a:p>
        </p:txBody>
      </p:sp>
      <p:sp>
        <p:nvSpPr>
          <p:cNvPr id="11" name="Text 8"/>
          <p:cNvSpPr/>
          <p:nvPr/>
        </p:nvSpPr>
        <p:spPr>
          <a:xfrm>
            <a:off x="3553301" y="6906220"/>
            <a:ext cx="2037398" cy="254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Accelerated Growth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70428" y="7258526"/>
            <a:ext cx="8003143" cy="521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2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 fast-growing startup was able to identify and develop 35 high-potential leaders in just 18 months, fueling its expansion into new markets.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82541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The Transformative Impact of Personality Insights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267075"/>
            <a:ext cx="284559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Competitive Advantage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202549"/>
            <a:ext cx="2845594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Leveraging personality data empowers organizations to make more informed and strategic talent decisions, driving superior business performance.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4200406" y="3267075"/>
            <a:ext cx="284559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Employee Engagement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200406" y="4202549"/>
            <a:ext cx="2845594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Personalized development plans and alignment of personality traits with job roles lead to increased employee motivation, job satisfaction, and retention.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607022" y="3267075"/>
            <a:ext cx="284559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Organizational Agility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07022" y="4202549"/>
            <a:ext cx="2845594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Comprehensive personality insights enable organizations to quickly adapt to changing market conditions and continuously evolve their workforce strategies.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1013638" y="3267075"/>
            <a:ext cx="284559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Unlocking Human Potential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013638" y="4202549"/>
            <a:ext cx="2845594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By understanding and nurturing the unique personality traits of individuals, organizations can help their employees reach new heights of success and fulfillment.</a:t>
            </a:r>
            <a:endParaRPr lang="en-US" sz="17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934B12F-C14A-DE09-3203-EE7925866E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8923" y="7517568"/>
            <a:ext cx="1981477" cy="67636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757</Words>
  <Application>Microsoft Office PowerPoint</Application>
  <PresentationFormat>Custom</PresentationFormat>
  <Paragraphs>98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Source Sans Pro</vt:lpstr>
      <vt:lpstr>Arial</vt:lpstr>
      <vt:lpstr>MuseoModerno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parinay goel</cp:lastModifiedBy>
  <cp:revision>2</cp:revision>
  <dcterms:created xsi:type="dcterms:W3CDTF">2024-11-26T06:09:56Z</dcterms:created>
  <dcterms:modified xsi:type="dcterms:W3CDTF">2024-11-26T06:11:58Z</dcterms:modified>
</cp:coreProperties>
</file>